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3" Type="http://schemas.openxmlformats.org/officeDocument/2006/relationships/viewProps" Target="viewProps.xml" /><Relationship Id="rId4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5" Type="http://schemas.openxmlformats.org/officeDocument/2006/relationships/tableStyles" Target="tableStyles.xml" /><Relationship Id="rId4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Models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Introduction to Models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From Data to Data-Generating Processes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≠ spreadsheet entries</a:t>
            </a:r>
            <a:br/>
          </a:p>
          <a:p>
            <a:pPr lvl="0"/>
            <a:r>
              <a:rPr/>
              <a:t>Data = outcomes of </a:t>
            </a:r>
            <a:r>
              <a:rPr b="1"/>
              <a:t>processes</a:t>
            </a:r>
          </a:p>
          <a:p>
            <a:pPr lvl="0"/>
            <a:r>
              <a:rPr/>
              <a:t>Every measurement reflects:</a:t>
            </a:r>
          </a:p>
          <a:p>
            <a:pPr lvl="1"/>
            <a:r>
              <a:rPr/>
              <a:t>Mechanisms</a:t>
            </a:r>
          </a:p>
          <a:p>
            <a:pPr lvl="1"/>
            <a:r>
              <a:rPr/>
              <a:t>Constraints</a:t>
            </a:r>
          </a:p>
          <a:p>
            <a:pPr lvl="1"/>
            <a:r>
              <a:rPr/>
              <a:t>Randomness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Example: Jackalope Body Mass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Observed mass varies due to:</a:t>
            </a:r>
          </a:p>
          <a:p>
            <a:pPr lvl="0"/>
            <a:r>
              <a:rPr/>
              <a:t>Body size differences</a:t>
            </a:r>
            <a:br/>
          </a:p>
          <a:p>
            <a:pPr lvl="0"/>
            <a:r>
              <a:rPr/>
              <a:t>Hydration state</a:t>
            </a:r>
            <a:br/>
          </a:p>
          <a:p>
            <a:pPr lvl="0"/>
            <a:r>
              <a:rPr/>
              <a:t>Recent feeding</a:t>
            </a:r>
            <a:br/>
          </a:p>
          <a:p>
            <a:pPr lvl="0"/>
            <a:r>
              <a:rPr/>
              <a:t>Metabolism</a:t>
            </a:r>
            <a:br/>
          </a:p>
          <a:p>
            <a:pPr lvl="0"/>
            <a:r>
              <a:rPr/>
              <a:t>Measurement error (instrument precision, posture)</a:t>
            </a:r>
          </a:p>
          <a:p>
            <a:pPr lvl="0" indent="0" marL="0">
              <a:buNone/>
            </a:pPr>
            <a:r>
              <a:rPr b="1"/>
              <a:t>Key idea:</a:t>
            </a:r>
            <a:br/>
            <a:r>
              <a:rPr/>
              <a:t>A single number reflects many interacting processes.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Two Core Components of Any Dataset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Systematic structure (Signal)</a:t>
            </a:r>
          </a:p>
          <a:p>
            <a:pPr lvl="1"/>
            <a:r>
              <a:rPr/>
              <a:t>Directional influences</a:t>
            </a:r>
          </a:p>
          <a:p>
            <a:pPr lvl="1"/>
            <a:r>
              <a:rPr/>
              <a:t>Mechanisms</a:t>
            </a:r>
          </a:p>
          <a:p>
            <a:pPr lvl="1"/>
            <a:r>
              <a:rPr/>
              <a:t>Constraints</a:t>
            </a:r>
          </a:p>
          <a:p>
            <a:pPr lvl="0"/>
            <a:r>
              <a:rPr b="1"/>
              <a:t>Unmeasured variation (Noise)</a:t>
            </a:r>
          </a:p>
          <a:p>
            <a:pPr lvl="1"/>
            <a:r>
              <a:rPr/>
              <a:t>Randomness</a:t>
            </a:r>
          </a:p>
          <a:p>
            <a:pPr lvl="1"/>
            <a:r>
              <a:rPr/>
              <a:t>Measurement limits</a:t>
            </a:r>
          </a:p>
          <a:p>
            <a:pPr lvl="1"/>
            <a:r>
              <a:rPr/>
              <a:t>Unmeasured drivers</a:t>
            </a:r>
          </a:p>
          <a:p>
            <a:pPr lvl="0" indent="0" marL="1270000">
              <a:buNone/>
            </a:pPr>
            <a:r>
              <a:rPr sz="2000"/>
              <a:t>Both arise from the same data-generating process.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Component #1: Systematic Structure (Signal)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Scientists seek:</a:t>
            </a:r>
          </a:p>
          <a:p>
            <a:pPr lvl="0"/>
            <a:r>
              <a:rPr/>
              <a:t>Directional influence</a:t>
            </a:r>
            <a:br/>
          </a:p>
          <a:p>
            <a:pPr lvl="0"/>
            <a:r>
              <a:rPr/>
              <a:t>Mechanistic explanation</a:t>
            </a:r>
            <a:br/>
          </a:p>
          <a:p>
            <a:pPr lvl="0"/>
            <a:r>
              <a:rPr/>
              <a:t>Causal understanding</a:t>
            </a:r>
          </a:p>
          <a:p>
            <a:pPr lvl="0" indent="0" marL="0">
              <a:buNone/>
            </a:pPr>
            <a:r>
              <a:rPr/>
              <a:t>Examples:</a:t>
            </a:r>
          </a:p>
          <a:p>
            <a:pPr lvl="0"/>
            <a:r>
              <a:rPr/>
              <a:t>Food availability → body condition</a:t>
            </a:r>
            <a:br/>
          </a:p>
          <a:p>
            <a:pPr lvl="0"/>
            <a:r>
              <a:rPr/>
              <a:t>Temperature → metabolic rate</a:t>
            </a:r>
            <a:br/>
          </a:p>
          <a:p>
            <a:pPr lvl="0"/>
            <a:r>
              <a:rPr/>
              <a:t>Predators → nest success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Signal in Statistical Models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General form of a regression model: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μ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= observed outcome</a:t>
                </a:r>
                <a:br/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= systematic component (mean signal)</a:t>
                </a:r>
                <a:br/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= deviation (noise)</a:t>
                </a:r>
              </a:p>
              <a:p>
                <a:pPr lvl="0" indent="0" marL="0">
                  <a:buNone/>
                </a:pPr>
                <a:r>
                  <a:rPr/>
                  <a:t>The model formalizes hypothesized mechanisms.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Signal in a GLM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Linear predictor: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η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1</m:t>
                          </m:r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2</m:t>
                          </m:r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η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= linear predictor</a:t>
                </a:r>
                <a:br/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 = intercept</a:t>
                </a:r>
                <a:br/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effect of predictor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br/>
              </a:p>
              <a:p>
                <a:pPr lvl="0"/>
                <a14:m>
                  <m:oMath xmlns:m="http://schemas.openxmlformats.org/officeDocument/2006/math">
                    <m:r>
                      <m:t>i</m:t>
                    </m:r>
                  </m:oMath>
                </a14:m>
                <a:r>
                  <a:rPr/>
                  <a:t> = observation index</a:t>
                </a:r>
              </a:p>
              <a:p>
                <a:pPr lvl="0" indent="0" marL="0">
                  <a:buNone/>
                </a:pPr>
                <a:r>
                  <a:rPr/>
                  <a:t>This is the </a:t>
                </a:r>
                <a:r>
                  <a:rPr b="1"/>
                  <a:t>structured (signal) component</a:t>
                </a:r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Major Ecological Theories (Causal Core)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/>
                <a:gridCol w="1854200"/>
                <a:gridCol w="4737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Core Causal Mechanism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Evolution by Natural Selection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Heritable variation causes differential survival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Competitive Exclusion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Limiting resources cause displacement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Optimal Foraging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1966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Fitness maximization drives behavior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Island Biogeography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Isolation &amp; area determine turnover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Intermediate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Disturbance prevents exclusion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Modern Coexistence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1990s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Niche differences stabilize coexistence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Neutral Theory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Demographic stochasticity drives composition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Associational vs. Causal Language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Causal language uses:</a:t>
            </a:r>
          </a:p>
          <a:p>
            <a:pPr lvl="0"/>
            <a:r>
              <a:rPr/>
              <a:t>Causes</a:t>
            </a:r>
            <a:br/>
          </a:p>
          <a:p>
            <a:pPr lvl="0"/>
            <a:r>
              <a:rPr/>
              <a:t>Drives</a:t>
            </a:r>
            <a:br/>
          </a:p>
          <a:p>
            <a:pPr lvl="0"/>
            <a:r>
              <a:rPr/>
              <a:t>Reduces</a:t>
            </a:r>
            <a:br/>
          </a:p>
          <a:p>
            <a:pPr lvl="0"/>
            <a:r>
              <a:rPr/>
              <a:t>Induces</a:t>
            </a:r>
          </a:p>
          <a:p>
            <a:pPr lvl="0" indent="0" marL="0">
              <a:buNone/>
            </a:pPr>
            <a:r>
              <a:rPr/>
              <a:t>Associational language uses:</a:t>
            </a:r>
          </a:p>
          <a:p>
            <a:pPr lvl="0"/>
            <a:r>
              <a:rPr/>
              <a:t>Associated with</a:t>
            </a:r>
            <a:br/>
          </a:p>
          <a:p>
            <a:pPr lvl="0"/>
            <a:r>
              <a:rPr/>
              <a:t>Correlated with</a:t>
            </a:r>
            <a:br/>
          </a:p>
          <a:p>
            <a:pPr lvl="0"/>
            <a:r>
              <a:rPr/>
              <a:t>Higher in</a:t>
            </a:r>
            <a:br/>
          </a:p>
          <a:p>
            <a:pPr lvl="0"/>
            <a:r>
              <a:rPr/>
              <a:t>Related to</a:t>
            </a:r>
          </a:p>
          <a:p>
            <a:pPr lvl="0" indent="0" marL="0">
              <a:buNone/>
            </a:pPr>
            <a:r>
              <a:rPr/>
              <a:t>Identifying wording is the first inference check.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Component #2: Unmeasured Variation (Noise)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Noise is not a nuisance.</a:t>
            </a:r>
            <a:br/>
            <a:r>
              <a:rPr/>
              <a:t>It reflects additional processes.</a:t>
            </a:r>
          </a:p>
          <a:p>
            <a:pPr lvl="0" indent="0" marL="0">
              <a:buNone/>
            </a:pPr>
            <a:r>
              <a:rPr/>
              <a:t>Sources:</a:t>
            </a:r>
          </a:p>
          <a:p>
            <a:pPr lvl="0"/>
            <a:r>
              <a:rPr/>
              <a:t>Individual heterogeneity</a:t>
            </a:r>
            <a:br/>
          </a:p>
          <a:p>
            <a:pPr lvl="0"/>
            <a:r>
              <a:rPr/>
              <a:t>Environmental fluctuation</a:t>
            </a:r>
            <a:br/>
          </a:p>
          <a:p>
            <a:pPr lvl="0"/>
            <a:r>
              <a:rPr/>
              <a:t>Measurement error</a:t>
            </a:r>
            <a:br/>
          </a:p>
          <a:p>
            <a:pPr lvl="0"/>
            <a:r>
              <a:rPr/>
              <a:t>Stochasticity</a:t>
            </a:r>
            <a:br/>
          </a:p>
          <a:p>
            <a:pPr lvl="0"/>
            <a:r>
              <a:rPr/>
              <a:t>Unmeasured drivers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Why Noise Matters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complete model must describe:</a:t>
            </a:r>
          </a:p>
          <a:p>
            <a:pPr lvl="0" indent="-342900" marL="342900">
              <a:buAutoNum type="arabicPeriod"/>
            </a:pPr>
            <a:r>
              <a:rPr/>
              <a:t>Mean behavior</a:t>
            </a:r>
            <a:br/>
          </a:p>
          <a:p>
            <a:pPr lvl="0" indent="-342900" marL="342900">
              <a:buAutoNum type="arabicPeriod"/>
            </a:pPr>
            <a:r>
              <a:rPr/>
              <a:t>Variability around the mean</a:t>
            </a:r>
          </a:p>
          <a:p>
            <a:pPr lvl="0" indent="0" marL="0">
              <a:buNone/>
            </a:pPr>
            <a:r>
              <a:rPr/>
              <a:t>Understanding variability = understanding mechanism.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Probability Distributions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distribution specifies:</a:t>
            </a:r>
          </a:p>
          <a:p>
            <a:pPr lvl="0"/>
            <a:r>
              <a:rPr/>
              <a:t>Possible values (constraints)</a:t>
            </a:r>
          </a:p>
          <a:p>
            <a:pPr lvl="0"/>
            <a:r>
              <a:rPr/>
              <a:t>Discrete or continuous</a:t>
            </a:r>
          </a:p>
          <a:p>
            <a:pPr lvl="0"/>
            <a:r>
              <a:rPr/>
              <a:t>Mean–variance relationship</a:t>
            </a:r>
          </a:p>
          <a:p>
            <a:pPr lvl="0"/>
            <a:r>
              <a:rPr/>
              <a:t>Frequency of extreme values</a:t>
            </a:r>
          </a:p>
          <a:p>
            <a:pPr lvl="0" indent="0" marL="1270000">
              <a:buNone/>
            </a:pPr>
            <a:r>
              <a:rPr sz="2000"/>
              <a:t>Choosing a distribution = choosing a model of randomness.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Gaussian (Normal) Distribution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Type:</a:t>
                </a:r>
                <a:r>
                  <a:rPr/>
                  <a:t> Continuous</a:t>
                </a:r>
                <a:br/>
                <a:r>
                  <a:rPr b="1"/>
                  <a:t>Support: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∞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x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rPr>
                        <m:sty m:val="p"/>
                      </m:rPr>
                      <m:t>∞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/>
                  <a:t>Density: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∼</m:t>
                      </m:r>
                      <m:r>
                        <m:rPr>
                          <m:sty m:val="p"/>
                          <m:scr m:val="script"/>
                        </m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μ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sSup>
                            <m:e>
                              <m:r>
                                <m:t>σ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 = mean</a:t>
                </a:r>
                <a:br/>
              </a:p>
              <a:p>
                <a:pPr lvl="0"/>
                <a14:m>
                  <m:oMath xmlns:m="http://schemas.openxmlformats.org/officeDocument/2006/math"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= variance</a:t>
                </a:r>
              </a:p>
              <a:p>
                <a:pPr lvl="0" indent="0" marL="0">
                  <a:buNone/>
                </a:pPr>
                <a:r>
                  <a:rPr b="1"/>
                  <a:t>Variance independent of mean</a:t>
                </a:r>
              </a:p>
              <a:p>
                <a:pPr lvl="0" indent="0" marL="0">
                  <a:buNone/>
                </a:pPr>
                <a:r>
                  <a:rPr b="1"/>
                  <a:t>Ecological examples:</a:t>
                </a:r>
              </a:p>
              <a:p>
                <a:pPr lvl="0"/>
                <a:r>
                  <a:rPr/>
                  <a:t>Measurement error</a:t>
                </a:r>
                <a:br/>
              </a:p>
              <a:p>
                <a:pPr lvl="0"/>
                <a:r>
                  <a:rPr/>
                  <a:t>Temperature deviations</a:t>
                </a:r>
              </a:p>
            </p:txBody>
          </p:sp>
        </mc:Choice>
      </mc:AlternateContent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Gamma Distribution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Type:</a:t>
                </a:r>
                <a:r>
                  <a:rPr/>
                  <a:t> Continuous</a:t>
                </a:r>
                <a:br/>
                <a:r>
                  <a:rPr b="1"/>
                  <a:t>Support: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0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x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rPr>
                        <m:sty m:val="p"/>
                      </m:rPr>
                      <m:t>∞</m:t>
                    </m:r>
                  </m:oMath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∼</m:t>
                      </m:r>
                      <m:r>
                        <m:rPr>
                          <m:nor/>
                          <m:sty m:val="p"/>
                        </m:rPr>
                        <m:t>Gamma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μ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k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 = mean</a:t>
                </a:r>
                <a:br/>
              </a:p>
              <a:p>
                <a:pPr lvl="0"/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 = shape (dispersion)</a:t>
                </a:r>
              </a:p>
              <a:p>
                <a:pPr lvl="0" indent="0" marL="0">
                  <a:buNone/>
                </a:pPr>
                <a:r>
                  <a:rPr/>
                  <a:t>Variance: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p>
                            <m:e>
                              <m:r>
                                <m:t>μ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t>k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Variance increases faster than mean.</a:t>
                </a:r>
              </a:p>
              <a:p>
                <a:pPr lvl="0" indent="0" marL="0">
                  <a:buNone/>
                </a:pPr>
                <a:r>
                  <a:rPr b="1"/>
                  <a:t>Examples:</a:t>
                </a:r>
                <a:br/>
                <a:r>
                  <a:rPr/>
                  <a:t>Biomass, rainfall, time to event.</a:t>
                </a:r>
              </a:p>
            </p:txBody>
          </p:sp>
        </mc:Choice>
      </mc:AlternateContent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Poisson Distribution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Type:</a:t>
                </a:r>
                <a:r>
                  <a:rPr/>
                  <a:t> Discrete</a:t>
                </a:r>
                <a:br/>
                <a:r>
                  <a:rPr b="1"/>
                  <a:t>Support: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∈</m:t>
                    </m:r>
                    <m:r>
                      <m:rPr>
                        <m:sty m:val="p"/>
                      </m:rPr>
                      <m:t>{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1</m:t>
                    </m:r>
                    <m:r>
                      <m:rPr>
                        <m:sty m:val="p"/>
                      </m:rPr>
                      <m:t>,</m:t>
                    </m:r>
                    <m:r>
                      <m:t>2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}</m:t>
                    </m:r>
                  </m:oMath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∼</m:t>
                      </m:r>
                      <m:r>
                        <m:rPr>
                          <m:nor/>
                          <m:sty m:val="p"/>
                        </m:rPr>
                        <m:t>Poisson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λ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 = mean count</a:t>
                </a:r>
              </a:p>
              <a:p>
                <a:pPr lvl="0" indent="0" marL="0">
                  <a:buNone/>
                </a:pPr>
                <a:r>
                  <a:rPr/>
                  <a:t>Key property: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λ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Mean = variance.</a:t>
                </a:r>
              </a:p>
              <a:p>
                <a:pPr lvl="0" indent="0" marL="0">
                  <a:buNone/>
                </a:pPr>
                <a:r>
                  <a:rPr b="1"/>
                  <a:t>Examples:</a:t>
                </a:r>
                <a:br/>
                <a:r>
                  <a:rPr/>
                  <a:t>Nest counts, insects per trap.</a:t>
                </a:r>
              </a:p>
            </p:txBody>
          </p:sp>
        </mc:Choice>
      </mc:AlternateContent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Bernoulli Distribution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Type:</a:t>
                </a:r>
                <a:r>
                  <a:rPr/>
                  <a:t> Discrete</a:t>
                </a:r>
                <a:br/>
                <a:r>
                  <a:rPr b="1"/>
                  <a:t>Support: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∈</m:t>
                    </m:r>
                    <m:r>
                      <m:rPr>
                        <m:sty m:val="p"/>
                      </m:rPr>
                      <m:t>{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1</m:t>
                    </m:r>
                    <m:r>
                      <m:rPr>
                        <m:sty m:val="p"/>
                      </m:rPr>
                      <m:t>}</m:t>
                    </m:r>
                  </m:oMath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∼</m:t>
                      </m:r>
                      <m:r>
                        <m:rPr>
                          <m:nor/>
                          <m:sty m:val="p"/>
                        </m:rPr>
                        <m:t>Bernoulli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p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 = probability of success</a:t>
                </a:r>
              </a:p>
              <a:p>
                <a:pPr lvl="0" indent="0" marL="0">
                  <a:buNone/>
                </a:pPr>
                <a:r>
                  <a:rPr/>
                  <a:t>Variance: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p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Examples:</a:t>
                </a:r>
                <a:br/>
                <a:r>
                  <a:rPr/>
                  <a:t>Nest success, germination.</a:t>
                </a:r>
              </a:p>
            </p:txBody>
          </p:sp>
        </mc:Choice>
      </mc:AlternateContent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Beta Distribution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Type:</a:t>
                </a:r>
                <a:r>
                  <a:rPr/>
                  <a:t> Continuous</a:t>
                </a:r>
                <a:br/>
                <a:r>
                  <a:rPr b="1"/>
                  <a:t>Support: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0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x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1</m:t>
                    </m:r>
                  </m:oMath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∼</m:t>
                      </m:r>
                      <m:r>
                        <m:rPr>
                          <m:nor/>
                          <m:sty m:val="p"/>
                        </m:rPr>
                        <m:t>Beta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α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β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r>
                      <m:t>α</m:t>
                    </m:r>
                    <m:r>
                      <m:rPr>
                        <m:sty m:val="p"/>
                      </m:rPr>
                      <m:t>,</m:t>
                    </m:r>
                    <m:r>
                      <m:t>β</m:t>
                    </m:r>
                  </m:oMath>
                </a14:m>
                <a:r>
                  <a:rPr/>
                  <a:t> = shape parameters</a:t>
                </a:r>
              </a:p>
              <a:p>
                <a:pPr lvl="0" indent="0" marL="0">
                  <a:buNone/>
                </a:pPr>
                <a:r>
                  <a:rPr/>
                  <a:t>Variance depends on:</a:t>
                </a:r>
              </a:p>
              <a:p>
                <a:pPr lvl="0"/>
                <a:r>
                  <a:rPr/>
                  <a:t>Mean</a:t>
                </a:r>
                <a:br/>
              </a:p>
              <a:p>
                <a:pPr lvl="0"/>
                <a:r>
                  <a:rPr/>
                  <a:t>Precision</a:t>
                </a:r>
              </a:p>
              <a:p>
                <a:pPr lvl="0" indent="0" marL="0">
                  <a:buNone/>
                </a:pPr>
                <a:r>
                  <a:rPr b="1"/>
                  <a:t>Examples:</a:t>
                </a:r>
                <a:br/>
                <a:r>
                  <a:rPr/>
                  <a:t>Proportion canopy cover, occupancy rate.</a:t>
                </a:r>
              </a:p>
            </p:txBody>
          </p:sp>
        </mc:Choice>
      </mc:AlternateContent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Negative Binomial Distribution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Type:</a:t>
                </a:r>
                <a:r>
                  <a:rPr/>
                  <a:t> Discrete</a:t>
                </a:r>
                <a:br/>
                <a:r>
                  <a:rPr b="1"/>
                  <a:t>Support: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∈</m:t>
                    </m:r>
                    <m:r>
                      <m:rPr>
                        <m:sty m:val="p"/>
                      </m:rPr>
                      <m:t>{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1</m:t>
                    </m:r>
                    <m:r>
                      <m:rPr>
                        <m:sty m:val="p"/>
                      </m:rPr>
                      <m:t>,</m:t>
                    </m:r>
                    <m:r>
                      <m:t>2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}</m:t>
                    </m:r>
                  </m:oMath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∼</m:t>
                      </m:r>
                      <m:r>
                        <m:rPr>
                          <m:nor/>
                          <m:sty m:val="p"/>
                        </m:rPr>
                        <m:t>NegBin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μ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k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 = mean</a:t>
                </a:r>
                <a:br/>
              </a:p>
              <a:p>
                <a:pPr lvl="0"/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 = dispersion parameter</a:t>
                </a:r>
              </a:p>
              <a:p>
                <a:pPr lvl="0" indent="0" marL="0">
                  <a:buNone/>
                </a:pPr>
                <a:r>
                  <a:rPr/>
                  <a:t>Variance: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f>
                        <m:fPr>
                          <m:type m:val="bar"/>
                        </m:fPr>
                        <m:num>
                          <m:sSup>
                            <m:e>
                              <m:r>
                                <m:t>μ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t>k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Variance &gt; mean.</a:t>
                </a:r>
              </a:p>
              <a:p>
                <a:pPr lvl="0" indent="0" marL="0">
                  <a:buNone/>
                </a:pPr>
                <a:r>
                  <a:rPr b="1"/>
                  <a:t>Examples:</a:t>
                </a:r>
                <a:br/>
                <a:r>
                  <a:rPr/>
                  <a:t>Aggregated insect counts.</a:t>
                </a:r>
              </a:p>
            </p:txBody>
          </p:sp>
        </mc:Choice>
      </mc:AlternateContent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Zero-Inflated Poisson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Mixture model: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  <m:sty m:val="p"/>
                                  </m:rPr>
                                  <m:t>with probability </m:t>
                                </m:r>
                                <m:r>
                                  <m:t>π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  <m:sty m:val="p"/>
                                  </m:rPr>
                                  <m:t>Poisson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λ</m:t>
                                    </m:r>
                                  </m:e>
                                </m:d>
                              </m:e>
                              <m:e>
                                <m:r>
                                  <m:rPr>
                                    <m:nor/>
                                    <m:sty m:val="p"/>
                                  </m:rPr>
                                  <m:t>with probability </m:t>
                                </m:r>
                                <m: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π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  <a:r>
                  <a:rPr/>
                  <a:t> = structural zero probability</a:t>
                </a:r>
                <a:br/>
              </a:p>
              <a:p>
                <a:pPr lvl="0"/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 = Poisson mean</a:t>
                </a:r>
              </a:p>
              <a:p>
                <a:pPr lvl="0" indent="0" marL="0">
                  <a:buNone/>
                </a:pPr>
                <a:r>
                  <a:rPr/>
                  <a:t>Used when excess zeros occur.</a:t>
                </a:r>
              </a:p>
              <a:p>
                <a:pPr lvl="0" indent="0" marL="0">
                  <a:buNone/>
                </a:pPr>
                <a:r>
                  <a:rPr b="1"/>
                  <a:t>Examples:</a:t>
                </a:r>
                <a:br/>
                <a:r>
                  <a:rPr/>
                  <a:t>Species absent from many sites.</a:t>
                </a:r>
              </a:p>
            </p:txBody>
          </p:sp>
        </mc:Choice>
      </mc:AlternateContent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Core Insight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dataset contains:</a:t>
            </a:r>
          </a:p>
          <a:p>
            <a:pPr lvl="0"/>
            <a:r>
              <a:rPr/>
              <a:t>Structured signal</a:t>
            </a:r>
            <a:br/>
          </a:p>
          <a:p>
            <a:pPr lvl="0"/>
            <a:r>
              <a:rPr/>
              <a:t>Structured variability</a:t>
            </a:r>
          </a:p>
          <a:p>
            <a:pPr lvl="0" indent="0" marL="0">
              <a:buNone/>
            </a:pPr>
            <a:r>
              <a:rPr/>
              <a:t>Distributions encode assumptions about how randomness arises.</a:t>
            </a:r>
          </a:p>
          <a:p>
            <a:pPr lvl="0" indent="0" marL="0">
              <a:buNone/>
            </a:pPr>
            <a:r>
              <a:rPr/>
              <a:t>Next:</a:t>
            </a:r>
            <a:br/>
            <a:r>
              <a:rPr b="1"/>
              <a:t>Generalized Linear Models (GLMs)</a:t>
            </a:r>
            <a:br/>
            <a:r>
              <a:rPr/>
              <a:t>→ Unify signal and distribution into one framework.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Models</dc:title>
  <dc:creator/>
  <cp:keywords/>
  <dcterms:created xsi:type="dcterms:W3CDTF">2026-02-12T13:55:54Z</dcterms:created>
  <dcterms:modified xsi:type="dcterms:W3CDTF">2026-02-12T13:55:54Z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xecute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