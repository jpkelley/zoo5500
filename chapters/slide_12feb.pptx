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1" Type="http://schemas.openxmlformats.org/officeDocument/2006/relationships/viewProps" Target="viewProps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3" Type="http://schemas.openxmlformats.org/officeDocument/2006/relationships/tableStyles" Target="tableStyles.xml" /><Relationship Id="rId2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7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8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9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Introduction to Models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From data to processes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Data are outcomes of processes</a:t>
            </a:r>
            <a:br/>
          </a:p>
          <a:p>
            <a:pPr lvl="0"/>
            <a:r>
              <a:rPr/>
              <a:t>Measurements mix signal and noise</a:t>
            </a:r>
            <a:br/>
          </a:p>
          <a:p>
            <a:pPr lvl="0"/>
            <a:r>
              <a:rPr/>
              <a:t>Models formalize that mix</a:t>
            </a:r>
          </a:p>
        </p:txBody>
      </p:sp>
      <p:pic>
        <p:nvPicPr>
          <p:cNvPr descr="../graphics/jackalope_graphics/marshwater_jackalop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44500"/>
            <a:ext cx="5105400" cy="3911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Signal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Signal = systematic structure</a:t>
            </a:r>
            <a:br/>
          </a:p>
          <a:p>
            <a:pPr lvl="0"/>
            <a:r>
              <a:rPr/>
              <a:t>Predictors represent mechanisms</a:t>
            </a:r>
            <a:br/>
          </a:p>
          <a:p>
            <a:pPr lvl="0"/>
            <a:r>
              <a:rPr/>
              <a:t>Goal: explain mean patterns</a:t>
            </a:r>
          </a:p>
        </p:txBody>
      </p:sp>
      <p:pic>
        <p:nvPicPr>
          <p:cNvPr descr="../graphics/other_stylized_graphics/causal_verbiage_pap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279900" y="203200"/>
            <a:ext cx="36703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Noise = unmeasured variation</a:t>
            </a:r>
            <a:br/>
          </a:p>
          <a:p>
            <a:pPr lvl="0"/>
            <a:r>
              <a:rPr/>
              <a:t>Not “junk”; it’s informative</a:t>
            </a:r>
            <a:br/>
          </a:p>
          <a:p>
            <a:pPr lvl="0"/>
            <a:r>
              <a:rPr/>
              <a:t>Distributions describe noise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Distributions as noise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Values allowed (support)</a:t>
            </a:r>
            <a:br/>
          </a:p>
          <a:p>
            <a:pPr lvl="0"/>
            <a:r>
              <a:rPr/>
              <a:t>Discrete vs continuous</a:t>
            </a:r>
            <a:br/>
          </a:p>
          <a:p>
            <a:pPr lvl="0"/>
            <a:r>
              <a:rPr/>
              <a:t>Mean–variance relationship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Common distributions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Ecology is often non-normal</a:t>
            </a:r>
            <a:br/>
          </a:p>
          <a:p>
            <a:pPr lvl="0"/>
            <a:r>
              <a:rPr/>
              <a:t>Choose distributions deliberately</a:t>
            </a:r>
            <a:br/>
          </a:p>
          <a:p>
            <a:pPr lvl="0"/>
            <a:r>
              <a:rPr/>
              <a:t>Then choose link functions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200"/>
                <a:gridCol w="774700"/>
                <a:gridCol w="711200"/>
                <a:gridCol w="22733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MeanVariance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Gaussian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Continuous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(-∞, ∞)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Var constant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Gamma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Continuous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(0, ∞)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Var increases with mean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Poisson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Discrete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{0,1,2,…}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Var = mean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Binomial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Discrete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{0,…,n}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Var = np(1-p)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Beta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Continuous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(0,1)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Var depends on mean + precision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Neg. binomial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Discrete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{0,1,2,…}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Var &gt; mean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Zero-infl. Poisson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Discrete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{0,1,2,…}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Extra zeros inflate Var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Gaussian: additive noise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Continuous outcomes</a:t>
            </a:r>
            <a:br/>
          </a:p>
          <a:p>
            <a:pPr lvl="0"/>
            <a:r>
              <a:rPr/>
              <a:t>Symmetric deviations</a:t>
            </a:r>
            <a:br/>
          </a:p>
          <a:p>
            <a:pPr lvl="0"/>
            <a:r>
              <a:rPr/>
              <a:t>Constant variance</a:t>
            </a:r>
          </a:p>
        </p:txBody>
      </p:sp>
      <p:pic>
        <p:nvPicPr>
          <p:cNvPr descr="slide_12feb_files/figure-pptx/gaussian_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863600"/>
            <a:ext cx="5105400" cy="3060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Gamma: positive, skewed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Positive outcomes only</a:t>
            </a:r>
            <a:br/>
          </a:p>
          <a:p>
            <a:pPr lvl="0"/>
            <a:r>
              <a:rPr/>
              <a:t>Right-skew common</a:t>
            </a:r>
            <a:br/>
          </a:p>
          <a:p>
            <a:pPr lvl="0"/>
            <a:r>
              <a:rPr/>
              <a:t>Variance grows fast</a:t>
            </a:r>
          </a:p>
        </p:txBody>
      </p:sp>
      <p:pic>
        <p:nvPicPr>
          <p:cNvPr descr="slide_12feb_files/figure-pptx/gamma_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863600"/>
            <a:ext cx="5105400" cy="3060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Poisson: counts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Counts: 0,1,2,…</a:t>
            </a:r>
            <a:br/>
          </a:p>
          <a:p>
            <a:pPr lvl="0"/>
            <a:r>
              <a:rPr/>
              <a:t>Variance ≈ mean</a:t>
            </a:r>
            <a:br/>
          </a:p>
          <a:p>
            <a:pPr lvl="0"/>
            <a:r>
              <a:rPr/>
              <a:t>Mean must be positive</a:t>
            </a:r>
          </a:p>
        </p:txBody>
      </p:sp>
      <p:pic>
        <p:nvPicPr>
          <p:cNvPr descr="slide_12feb_files/figure-pptx/poisson_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863600"/>
            <a:ext cx="5105400" cy="3060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Binomial: successes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Bounded by 0…n</a:t>
            </a:r>
            <a:br/>
          </a:p>
          <a:p>
            <a:pPr lvl="0"/>
            <a:r>
              <a:rPr/>
              <a:t>Trials + probability</a:t>
            </a:r>
            <a:br/>
          </a:p>
          <a:p>
            <a:pPr lvl="0"/>
            <a:r>
              <a:rPr/>
              <a:t>Variance depends on p</a:t>
            </a:r>
          </a:p>
        </p:txBody>
      </p:sp>
      <p:pic>
        <p:nvPicPr>
          <p:cNvPr descr="slide_12feb_files/figure-pptx/binomial_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863600"/>
            <a:ext cx="5105400" cy="3060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Beta: proportions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Continuous 0–1</a:t>
            </a:r>
            <a:br/>
          </a:p>
          <a:p>
            <a:pPr lvl="0"/>
            <a:r>
              <a:rPr/>
              <a:t>Flexible shapes</a:t>
            </a:r>
            <a:br/>
          </a:p>
          <a:p>
            <a:pPr lvl="0"/>
            <a:r>
              <a:rPr/>
              <a:t>Precision matters</a:t>
            </a:r>
          </a:p>
        </p:txBody>
      </p:sp>
      <p:pic>
        <p:nvPicPr>
          <p:cNvPr descr="slide_12feb_files/figure-pptx/beta_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863600"/>
            <a:ext cx="5105400" cy="3060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Negative binomial: overdispersed counts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Counts, clustered events</a:t>
            </a:r>
            <a:br/>
          </a:p>
          <a:p>
            <a:pPr lvl="0"/>
            <a:r>
              <a:rPr/>
              <a:t>Variance &gt; mean</a:t>
            </a:r>
            <a:br/>
          </a:p>
          <a:p>
            <a:pPr lvl="0"/>
            <a:r>
              <a:rPr/>
              <a:t>Common in ecology</a:t>
            </a:r>
          </a:p>
        </p:txBody>
      </p:sp>
      <p:pic>
        <p:nvPicPr>
          <p:cNvPr descr="slide_12feb_files/figure-pptx/nb_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863600"/>
            <a:ext cx="5105400" cy="3060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Zero-inflated Poisson: extra zeros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Two processes: zero vs count</a:t>
            </a:r>
            <a:br/>
          </a:p>
          <a:p>
            <a:pPr lvl="0"/>
            <a:r>
              <a:rPr/>
              <a:t>Many structural zeros</a:t>
            </a:r>
            <a:br/>
          </a:p>
          <a:p>
            <a:pPr lvl="0"/>
            <a:r>
              <a:rPr/>
              <a:t>Variance inflated</a:t>
            </a:r>
          </a:p>
        </p:txBody>
      </p:sp>
      <p:pic>
        <p:nvPicPr>
          <p:cNvPr descr="slide_12feb_files/figure-pptx/zip_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863600"/>
            <a:ext cx="5105400" cy="3060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Poisson GLM (vs Gaussian)?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Counts are discrete</a:t>
            </a:r>
            <a:br/>
          </a:p>
          <a:p>
            <a:pPr lvl="0"/>
            <a:r>
              <a:rPr/>
              <a:t>Means must be positive</a:t>
            </a:r>
            <a:br/>
          </a:p>
          <a:p>
            <a:pPr lvl="0"/>
            <a:r>
              <a:rPr/>
              <a:t>Variance grows with mean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GLM: three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Signal: linear predictor</a:t>
            </a:r>
            <a:br/>
          </a:p>
          <a:p>
            <a:pPr lvl="0"/>
            <a:r>
              <a:rPr/>
              <a:t>Noise: distribution</a:t>
            </a:r>
            <a:br/>
          </a:p>
          <a:p>
            <a:pPr lvl="0"/>
            <a:r>
              <a:rPr/>
              <a:t>Link: connects mean to predictor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Poisson GLM specification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∼</m:t>
                    </m:r>
                    <m:r>
                      <m:rPr>
                        <m:nor/>
                        <m:sty m:val="p"/>
                      </m:rPr>
                      <m:t>Poisson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sSub>
                          <m:e>
                            <m:r>
                              <m:t>μ</m:t>
                            </m:r>
                          </m:e>
                          <m:sub>
                            <m:r>
                              <m:t>i</m:t>
                            </m:r>
                          </m:sub>
                        </m:sSub>
                      </m:e>
                    </m:d>
                  </m:oMath>
                </a14:m>
                <a:br/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η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sSub>
                      <m:e>
                        <m:r>
                          <m:t>X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br/>
              </a:p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log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sSub>
                          <m:e>
                            <m:r>
                              <m:t>μ</m:t>
                            </m:r>
                          </m:e>
                          <m:sub>
                            <m:r>
                              <m:t>i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m:t>=</m:t>
                    </m:r>
                    <m:sSub>
                      <m:e>
                        <m:r>
                          <m:t>η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</a:p>
            </p:txBody>
          </p:sp>
        </mc:Choice>
      </mc:AlternateContent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Link function: what it connects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Link acts on the mean</a:t>
                </a:r>
                <a:br/>
              </a:p>
              <a:p>
                <a:pPr lvl="0"/>
                <a:r>
                  <a:rPr/>
                  <a:t>Connects </a:t>
                </a:r>
                <a14:m>
                  <m:oMath xmlns:m="http://schemas.openxmlformats.org/officeDocument/2006/math">
                    <m:sSub>
                      <m:e>
                        <m:r>
                          <m:t>μ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 to </a:t>
                </a:r>
                <a14:m>
                  <m:oMath xmlns:m="http://schemas.openxmlformats.org/officeDocument/2006/math">
                    <m:sSub>
                      <m:e>
                        <m:r>
                          <m:t>η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br/>
              </a:p>
              <a:p>
                <a:pPr lvl="0"/>
                <a:r>
                  <a:rPr/>
                  <a:t>Ensures valid predictions</a:t>
                </a:r>
              </a:p>
            </p:txBody>
          </p:sp>
        </mc:Choice>
      </mc:AlternateContent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Take-home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Choose distribution for noise</a:t>
            </a:r>
            <a:br/>
          </a:p>
          <a:p>
            <a:pPr lvl="0"/>
            <a:r>
              <a:rPr/>
              <a:t>Choose predictors for signal</a:t>
            </a:r>
            <a:br/>
          </a:p>
          <a:p>
            <a:pPr lvl="0"/>
            <a:r>
              <a:rPr/>
              <a:t>Choose link for realism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Models</dc:title>
  <dc:creator/>
  <cp:keywords/>
  <dcterms:created xsi:type="dcterms:W3CDTF">2026-02-12T06:52:38Z</dcterms:created>
  <dcterms:modified xsi:type="dcterms:W3CDTF">2026-02-12T06:52:38Z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xecute">
    <vt:lpwstr/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toc-title">
    <vt:lpwstr>Table of contents</vt:lpwstr>
  </property>
</Properties>
</file>